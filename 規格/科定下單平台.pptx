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  <p:sldMasterId id="2147483661" r:id="rId2"/>
    <p:sldMasterId id="2147483674" r:id="rId3"/>
  </p:sldMasterIdLst>
  <p:sldIdLst>
    <p:sldId id="285" r:id="rId4"/>
    <p:sldId id="274" r:id="rId5"/>
    <p:sldId id="279" r:id="rId6"/>
    <p:sldId id="280" r:id="rId7"/>
    <p:sldId id="281" r:id="rId8"/>
    <p:sldId id="282" r:id="rId9"/>
    <p:sldId id="283" r:id="rId10"/>
    <p:sldId id="284" r:id="rId11"/>
    <p:sldId id="278" r:id="rId12"/>
    <p:sldId id="273" r:id="rId1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60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36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viewProps" Target="viewProp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70"/>
            <a:ext cx="12192000" cy="6856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411988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02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82932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628775"/>
            <a:ext cx="10515600" cy="4548188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7" name="標題 6"/>
          <p:cNvSpPr>
            <a:spLocks noGrp="1"/>
          </p:cNvSpPr>
          <p:nvPr>
            <p:ph type="title"/>
          </p:nvPr>
        </p:nvSpPr>
        <p:spPr>
          <a:xfrm>
            <a:off x="838200" y="622283"/>
            <a:ext cx="10515600" cy="739792"/>
          </a:xfrm>
        </p:spPr>
        <p:txBody>
          <a:bodyPr anchor="t">
            <a:normAutofit/>
          </a:bodyPr>
          <a:lstStyle>
            <a:lvl1pPr algn="ctr">
              <a:defRPr sz="3200"/>
            </a:lvl1pPr>
          </a:lstStyle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53890240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628775"/>
            <a:ext cx="5181600" cy="4548188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628775"/>
            <a:ext cx="5181600" cy="45481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標題 6"/>
          <p:cNvSpPr txBox="1">
            <a:spLocks/>
          </p:cNvSpPr>
          <p:nvPr userDrawn="1"/>
        </p:nvSpPr>
        <p:spPr>
          <a:xfrm>
            <a:off x="838200" y="622283"/>
            <a:ext cx="10515600" cy="7397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zh-TW" altLang="en-US" dirty="0"/>
          </a:p>
        </p:txBody>
      </p:sp>
      <p:sp>
        <p:nvSpPr>
          <p:cNvPr id="9" name="標題 6"/>
          <p:cNvSpPr>
            <a:spLocks noGrp="1"/>
          </p:cNvSpPr>
          <p:nvPr>
            <p:ph type="title"/>
          </p:nvPr>
        </p:nvSpPr>
        <p:spPr>
          <a:xfrm>
            <a:off x="838200" y="614877"/>
            <a:ext cx="10515600" cy="739792"/>
          </a:xfrm>
        </p:spPr>
        <p:txBody>
          <a:bodyPr anchor="t">
            <a:normAutofit/>
          </a:bodyPr>
          <a:lstStyle>
            <a:lvl1pPr algn="ctr">
              <a:defRPr sz="3200"/>
            </a:lvl1pPr>
          </a:lstStyle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833141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28775"/>
            <a:ext cx="5157787" cy="8763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28775"/>
            <a:ext cx="5183188" cy="8763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8" name="標題 6"/>
          <p:cNvSpPr>
            <a:spLocks noGrp="1"/>
          </p:cNvSpPr>
          <p:nvPr>
            <p:ph type="title"/>
          </p:nvPr>
        </p:nvSpPr>
        <p:spPr>
          <a:xfrm>
            <a:off x="838200" y="622283"/>
            <a:ext cx="10515600" cy="739792"/>
          </a:xfrm>
        </p:spPr>
        <p:txBody>
          <a:bodyPr anchor="t">
            <a:normAutofit/>
          </a:bodyPr>
          <a:lstStyle>
            <a:lvl1pPr algn="ctr">
              <a:defRPr sz="3200"/>
            </a:lvl1pPr>
          </a:lstStyle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41970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71"/>
            <a:ext cx="12192000" cy="6856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410779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044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628775"/>
            <a:ext cx="10515600" cy="45481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標題 6"/>
          <p:cNvSpPr>
            <a:spLocks noGrp="1"/>
          </p:cNvSpPr>
          <p:nvPr>
            <p:ph type="title"/>
          </p:nvPr>
        </p:nvSpPr>
        <p:spPr>
          <a:xfrm>
            <a:off x="838200" y="622283"/>
            <a:ext cx="10515600" cy="739792"/>
          </a:xfrm>
        </p:spPr>
        <p:txBody>
          <a:bodyPr anchor="t">
            <a:normAutofit/>
          </a:bodyPr>
          <a:lstStyle>
            <a:lvl1pPr algn="ctr">
              <a:defRPr sz="3200"/>
            </a:lvl1pPr>
          </a:lstStyle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25524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628775"/>
            <a:ext cx="5181600" cy="4548188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628775"/>
            <a:ext cx="5181600" cy="45481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標題 6"/>
          <p:cNvSpPr>
            <a:spLocks noGrp="1"/>
          </p:cNvSpPr>
          <p:nvPr>
            <p:ph type="title"/>
          </p:nvPr>
        </p:nvSpPr>
        <p:spPr>
          <a:xfrm>
            <a:off x="838200" y="622283"/>
            <a:ext cx="10515600" cy="739792"/>
          </a:xfrm>
        </p:spPr>
        <p:txBody>
          <a:bodyPr anchor="t">
            <a:normAutofit/>
          </a:bodyPr>
          <a:lstStyle>
            <a:lvl1pPr algn="ctr">
              <a:defRPr sz="3200"/>
            </a:lvl1pPr>
          </a:lstStyle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06530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28775"/>
            <a:ext cx="5157787" cy="8763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28775"/>
            <a:ext cx="5183188" cy="8763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8" name="標題 6"/>
          <p:cNvSpPr>
            <a:spLocks noGrp="1"/>
          </p:cNvSpPr>
          <p:nvPr>
            <p:ph type="title"/>
          </p:nvPr>
        </p:nvSpPr>
        <p:spPr>
          <a:xfrm>
            <a:off x="838200" y="622283"/>
            <a:ext cx="10515600" cy="739792"/>
          </a:xfrm>
        </p:spPr>
        <p:txBody>
          <a:bodyPr anchor="t">
            <a:normAutofit/>
          </a:bodyPr>
          <a:lstStyle>
            <a:lvl1pPr algn="ctr">
              <a:defRPr sz="3200"/>
            </a:lvl1pPr>
          </a:lstStyle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894304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26"/>
            <a:ext cx="12192000" cy="6852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8965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08104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628775"/>
            <a:ext cx="10515600" cy="45481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標題 6"/>
          <p:cNvSpPr>
            <a:spLocks noGrp="1"/>
          </p:cNvSpPr>
          <p:nvPr>
            <p:ph type="title"/>
          </p:nvPr>
        </p:nvSpPr>
        <p:spPr>
          <a:xfrm>
            <a:off x="838200" y="622283"/>
            <a:ext cx="10515600" cy="739792"/>
          </a:xfrm>
        </p:spPr>
        <p:txBody>
          <a:bodyPr anchor="t">
            <a:normAutofit/>
          </a:bodyPr>
          <a:lstStyle>
            <a:lvl1pPr algn="ctr">
              <a:defRPr sz="3200"/>
            </a:lvl1pPr>
          </a:lstStyle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720807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628775"/>
            <a:ext cx="5181600" cy="45481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628775"/>
            <a:ext cx="5181600" cy="45481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標題 6"/>
          <p:cNvSpPr>
            <a:spLocks noGrp="1"/>
          </p:cNvSpPr>
          <p:nvPr>
            <p:ph type="title"/>
          </p:nvPr>
        </p:nvSpPr>
        <p:spPr>
          <a:xfrm>
            <a:off x="838200" y="622283"/>
            <a:ext cx="10515600" cy="739792"/>
          </a:xfrm>
        </p:spPr>
        <p:txBody>
          <a:bodyPr anchor="t">
            <a:normAutofit/>
          </a:bodyPr>
          <a:lstStyle>
            <a:lvl1pPr algn="ctr">
              <a:defRPr sz="3200"/>
            </a:lvl1pPr>
          </a:lstStyle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512847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28775"/>
            <a:ext cx="5157787" cy="8763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28775"/>
            <a:ext cx="5183188" cy="8763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8" name="標題 6"/>
          <p:cNvSpPr>
            <a:spLocks noGrp="1"/>
          </p:cNvSpPr>
          <p:nvPr>
            <p:ph type="title"/>
          </p:nvPr>
        </p:nvSpPr>
        <p:spPr>
          <a:xfrm>
            <a:off x="838200" y="622283"/>
            <a:ext cx="10515600" cy="739792"/>
          </a:xfrm>
        </p:spPr>
        <p:txBody>
          <a:bodyPr anchor="t">
            <a:normAutofit/>
          </a:bodyPr>
          <a:lstStyle>
            <a:lvl1pPr algn="ctr">
              <a:defRPr sz="3200"/>
            </a:lvl1pPr>
          </a:lstStyle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79334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7" Type="http://schemas.openxmlformats.org/officeDocument/2006/relationships/image" Target="../media/image3.jpeg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7" Type="http://schemas.openxmlformats.org/officeDocument/2006/relationships/image" Target="../media/image5.jpeg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2304AF-4717-4BA2-A7A9-448811DED937}" type="datetimeFigureOut">
              <a:rPr lang="zh-TW" altLang="en-US" smtClean="0"/>
              <a:t>2025/12/18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714929-F126-4439-B555-683BE7682F3B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9" name="圖片 8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5" y="0"/>
            <a:ext cx="121896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541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696" r:id="rId2"/>
    <p:sldLayoutId id="2147483691" r:id="rId3"/>
    <p:sldLayoutId id="2147483693" r:id="rId4"/>
    <p:sldLayoutId id="2147483694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0AA3D-2894-4FB7-A264-6020A4671CA7}" type="datetimeFigureOut">
              <a:rPr lang="zh-TW" altLang="en-US" smtClean="0"/>
              <a:t>2025/12/18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0B5718-D096-4373-96C3-2038722C12AE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9251004" y="6216311"/>
            <a:ext cx="2940996" cy="6416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5" y="0"/>
            <a:ext cx="121896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5482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8" r:id="rId2"/>
    <p:sldLayoutId id="2147483663" r:id="rId3"/>
    <p:sldLayoutId id="2147483665" r:id="rId4"/>
    <p:sldLayoutId id="2147483666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B265BE-CACB-4CEF-9096-EB3801B2E664}" type="datetimeFigureOut">
              <a:rPr lang="zh-TW" altLang="en-US" smtClean="0"/>
              <a:t>2025/12/18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26D5D6-1667-4825-AE7C-FB6241B0A3B9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3" name="矩形 12"/>
          <p:cNvSpPr/>
          <p:nvPr userDrawn="1"/>
        </p:nvSpPr>
        <p:spPr>
          <a:xfrm>
            <a:off x="9251004" y="6216311"/>
            <a:ext cx="2940996" cy="6416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8" name="圖片 7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5" y="0"/>
            <a:ext cx="121896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122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81" r:id="rId2"/>
    <p:sldLayoutId id="2147483676" r:id="rId3"/>
    <p:sldLayoutId id="2147483678" r:id="rId4"/>
    <p:sldLayoutId id="2147483679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A1298B27-A997-4703-9F69-3D2229F5F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91350"/>
            <a:ext cx="10515600" cy="739792"/>
          </a:xfrm>
        </p:spPr>
        <p:txBody>
          <a:bodyPr/>
          <a:lstStyle/>
          <a:p>
            <a:r>
              <a:rPr lang="zh-TW" altLang="en-US" dirty="0"/>
              <a:t>科定下單平台</a:t>
            </a:r>
          </a:p>
        </p:txBody>
      </p:sp>
    </p:spTree>
    <p:extLst>
      <p:ext uri="{BB962C8B-B14F-4D97-AF65-F5344CB8AC3E}">
        <p14:creationId xmlns:p14="http://schemas.microsoft.com/office/powerpoint/2010/main" val="10111054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內容版面配置區 1">
            <a:extLst>
              <a:ext uri="{FF2B5EF4-FFF2-40B4-BE49-F238E27FC236}">
                <a16:creationId xmlns:a16="http://schemas.microsoft.com/office/drawing/2014/main" id="{4B2F5A3E-0763-4E15-A21D-48DB9756CE00}"/>
              </a:ext>
            </a:extLst>
          </p:cNvPr>
          <p:cNvSpPr txBox="1">
            <a:spLocks/>
          </p:cNvSpPr>
          <p:nvPr/>
        </p:nvSpPr>
        <p:spPr>
          <a:xfrm>
            <a:off x="1655230" y="2015066"/>
            <a:ext cx="3547536" cy="18510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1.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顯示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3–4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Banner</a:t>
            </a: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以靜態輪播方式呈現</a:t>
            </a:r>
          </a:p>
          <a:p>
            <a:pPr lvl="1"/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用於主打商品、活動或重點訊息</a:t>
            </a:r>
          </a:p>
        </p:txBody>
      </p:sp>
      <p:sp>
        <p:nvSpPr>
          <p:cNvPr id="4" name="內容版面配置區 1">
            <a:extLst>
              <a:ext uri="{FF2B5EF4-FFF2-40B4-BE49-F238E27FC236}">
                <a16:creationId xmlns:a16="http://schemas.microsoft.com/office/drawing/2014/main" id="{5C9DD470-260A-4B83-8CFF-A892D736E428}"/>
              </a:ext>
            </a:extLst>
          </p:cNvPr>
          <p:cNvSpPr txBox="1">
            <a:spLocks/>
          </p:cNvSpPr>
          <p:nvPr/>
        </p:nvSpPr>
        <p:spPr>
          <a:xfrm>
            <a:off x="2254246" y="1089553"/>
            <a:ext cx="2349503" cy="3471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TW" altLang="en-US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前台｜首頁顯示內容</a:t>
            </a:r>
          </a:p>
        </p:txBody>
      </p:sp>
      <p:sp>
        <p:nvSpPr>
          <p:cNvPr id="10" name="內容版面配置區 1">
            <a:extLst>
              <a:ext uri="{FF2B5EF4-FFF2-40B4-BE49-F238E27FC236}">
                <a16:creationId xmlns:a16="http://schemas.microsoft.com/office/drawing/2014/main" id="{27813BD6-256A-44D1-974E-DAA83E711EF8}"/>
              </a:ext>
            </a:extLst>
          </p:cNvPr>
          <p:cNvSpPr txBox="1">
            <a:spLocks/>
          </p:cNvSpPr>
          <p:nvPr/>
        </p:nvSpPr>
        <p:spPr>
          <a:xfrm>
            <a:off x="7588252" y="1089553"/>
            <a:ext cx="2349503" cy="3471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TW" altLang="en-US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後台｜首頁維護管理</a:t>
            </a:r>
          </a:p>
        </p:txBody>
      </p:sp>
      <p:sp>
        <p:nvSpPr>
          <p:cNvPr id="11" name="內容版面配置區 1">
            <a:extLst>
              <a:ext uri="{FF2B5EF4-FFF2-40B4-BE49-F238E27FC236}">
                <a16:creationId xmlns:a16="http://schemas.microsoft.com/office/drawing/2014/main" id="{0A634926-1212-45CB-8CF7-E2CB1648C38B}"/>
              </a:ext>
            </a:extLst>
          </p:cNvPr>
          <p:cNvSpPr txBox="1">
            <a:spLocks/>
          </p:cNvSpPr>
          <p:nvPr/>
        </p:nvSpPr>
        <p:spPr>
          <a:xfrm>
            <a:off x="6989235" y="2015066"/>
            <a:ext cx="3547536" cy="185100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1.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新增／編輯／刪除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Banner</a:t>
            </a:r>
          </a:p>
          <a:p>
            <a:pPr marL="0" indent="0">
              <a:buNone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2.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設定顯示：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圖片內容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顯示順序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上下架時間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3.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設定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Banner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連結目標（商品頁／分類頁）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內容版面配置區 1">
            <a:extLst>
              <a:ext uri="{FF2B5EF4-FFF2-40B4-BE49-F238E27FC236}">
                <a16:creationId xmlns:a16="http://schemas.microsoft.com/office/drawing/2014/main" id="{B1F40851-DAF0-45F9-9312-EA6AC9BE347F}"/>
              </a:ext>
            </a:extLst>
          </p:cNvPr>
          <p:cNvSpPr txBox="1">
            <a:spLocks/>
          </p:cNvSpPr>
          <p:nvPr/>
        </p:nvSpPr>
        <p:spPr>
          <a:xfrm>
            <a:off x="6989235" y="4382550"/>
            <a:ext cx="3475565" cy="1515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1.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管理會員帳號資料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2.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啟用／停用帳號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3.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管理登入狀態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4.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權限控管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內容版面配置區 1">
            <a:extLst>
              <a:ext uri="{FF2B5EF4-FFF2-40B4-BE49-F238E27FC236}">
                <a16:creationId xmlns:a16="http://schemas.microsoft.com/office/drawing/2014/main" id="{47BF7A67-22F5-4D40-B1C3-1514B02ED93B}"/>
              </a:ext>
            </a:extLst>
          </p:cNvPr>
          <p:cNvSpPr txBox="1">
            <a:spLocks/>
          </p:cNvSpPr>
          <p:nvPr/>
        </p:nvSpPr>
        <p:spPr>
          <a:xfrm>
            <a:off x="1655230" y="4382550"/>
            <a:ext cx="3318936" cy="10615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2.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顯示會員登入入口</a:t>
            </a:r>
          </a:p>
          <a:p>
            <a:pPr lvl="1"/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未登入：顯示登入按鈕</a:t>
            </a:r>
          </a:p>
          <a:p>
            <a:pPr lvl="1"/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已登入：顯示會員資訊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登出</a:t>
            </a:r>
          </a:p>
          <a:p>
            <a:pPr marL="0" indent="0">
              <a:buNone/>
            </a:pPr>
            <a:endParaRPr lang="en-US" altLang="zh-TW" sz="1200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CA21E02A-065E-4318-B169-7DA8E1A3C153}"/>
              </a:ext>
            </a:extLst>
          </p:cNvPr>
          <p:cNvCxnSpPr/>
          <p:nvPr/>
        </p:nvCxnSpPr>
        <p:spPr>
          <a:xfrm>
            <a:off x="1655230" y="4089400"/>
            <a:ext cx="888154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1115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1">
            <a:extLst>
              <a:ext uri="{FF2B5EF4-FFF2-40B4-BE49-F238E27FC236}">
                <a16:creationId xmlns:a16="http://schemas.microsoft.com/office/drawing/2014/main" id="{5C9DD470-260A-4B83-8CFF-A892D736E428}"/>
              </a:ext>
            </a:extLst>
          </p:cNvPr>
          <p:cNvSpPr txBox="1">
            <a:spLocks/>
          </p:cNvSpPr>
          <p:nvPr/>
        </p:nvSpPr>
        <p:spPr>
          <a:xfrm>
            <a:off x="2281766" y="1139797"/>
            <a:ext cx="2501901" cy="3841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TW" altLang="en-US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前台｜搜尋與即時推薦</a:t>
            </a:r>
          </a:p>
        </p:txBody>
      </p:sp>
      <p:sp>
        <p:nvSpPr>
          <p:cNvPr id="6" name="內容版面配置區 1">
            <a:extLst>
              <a:ext uri="{FF2B5EF4-FFF2-40B4-BE49-F238E27FC236}">
                <a16:creationId xmlns:a16="http://schemas.microsoft.com/office/drawing/2014/main" id="{E023BFFE-3FEB-4B14-885B-F170D074B992}"/>
              </a:ext>
            </a:extLst>
          </p:cNvPr>
          <p:cNvSpPr txBox="1">
            <a:spLocks/>
          </p:cNvSpPr>
          <p:nvPr/>
        </p:nvSpPr>
        <p:spPr>
          <a:xfrm>
            <a:off x="1563156" y="2153718"/>
            <a:ext cx="3939120" cy="1199075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5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1. </a:t>
            </a:r>
            <a:r>
              <a:rPr lang="zh-TW" altLang="en-US" sz="5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搜尋功能</a:t>
            </a:r>
            <a:endParaRPr lang="en-US" altLang="zh-TW" sz="5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5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提供關鍵字搜尋輸入框</a:t>
            </a:r>
            <a:endParaRPr lang="en-US" altLang="zh-TW" sz="5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5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使用者輸入關鍵字即時顯示約 </a:t>
            </a:r>
            <a:r>
              <a:rPr lang="en-US" altLang="zh-TW" sz="5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10 </a:t>
            </a:r>
            <a:r>
              <a:rPr lang="zh-TW" altLang="en-US" sz="5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筆相關商品</a:t>
            </a:r>
            <a:endParaRPr lang="en-US" altLang="zh-TW" sz="5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5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顯示商品縮圖、商品名稱、價格</a:t>
            </a:r>
            <a:endParaRPr lang="en-US" altLang="zh-TW" sz="5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endParaRPr lang="en-US" altLang="zh-TW" sz="56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endParaRPr lang="en-US" altLang="zh-TW" sz="1400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0" name="內容版面配置區 1">
            <a:extLst>
              <a:ext uri="{FF2B5EF4-FFF2-40B4-BE49-F238E27FC236}">
                <a16:creationId xmlns:a16="http://schemas.microsoft.com/office/drawing/2014/main" id="{5099FBB2-378F-4BDE-852E-962185397FC5}"/>
              </a:ext>
            </a:extLst>
          </p:cNvPr>
          <p:cNvSpPr txBox="1">
            <a:spLocks/>
          </p:cNvSpPr>
          <p:nvPr/>
        </p:nvSpPr>
        <p:spPr>
          <a:xfrm>
            <a:off x="7105647" y="2153718"/>
            <a:ext cx="3939120" cy="155786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1.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搜尋功能設定：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搜尋關鍵字對應商品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同義字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關鍵字補充（例如錯字、簡寫）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管理即時顯示的商品數量（預設約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10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筆）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可調整搜尋排序權重（如：熱門優先）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內容版面配置區 1">
            <a:extLst>
              <a:ext uri="{FF2B5EF4-FFF2-40B4-BE49-F238E27FC236}">
                <a16:creationId xmlns:a16="http://schemas.microsoft.com/office/drawing/2014/main" id="{6C1B6EDA-BB49-4400-9A43-8CF55EFFA642}"/>
              </a:ext>
            </a:extLst>
          </p:cNvPr>
          <p:cNvSpPr txBox="1">
            <a:spLocks/>
          </p:cNvSpPr>
          <p:nvPr/>
        </p:nvSpPr>
        <p:spPr>
          <a:xfrm>
            <a:off x="7408335" y="1139796"/>
            <a:ext cx="2501901" cy="3841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TW" altLang="en-US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後台｜維護與管理內容</a:t>
            </a:r>
          </a:p>
        </p:txBody>
      </p:sp>
      <p:sp>
        <p:nvSpPr>
          <p:cNvPr id="12" name="內容版面配置區 1">
            <a:extLst>
              <a:ext uri="{FF2B5EF4-FFF2-40B4-BE49-F238E27FC236}">
                <a16:creationId xmlns:a16="http://schemas.microsoft.com/office/drawing/2014/main" id="{DCF63B93-F102-445D-BABF-145AA17D2514}"/>
              </a:ext>
            </a:extLst>
          </p:cNvPr>
          <p:cNvSpPr txBox="1">
            <a:spLocks/>
          </p:cNvSpPr>
          <p:nvPr/>
        </p:nvSpPr>
        <p:spPr>
          <a:xfrm>
            <a:off x="1563156" y="4160324"/>
            <a:ext cx="3608920" cy="1495409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5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2. </a:t>
            </a:r>
            <a:r>
              <a:rPr lang="zh-TW" altLang="en-US" sz="5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搜尋結果頁</a:t>
            </a:r>
          </a:p>
          <a:p>
            <a:r>
              <a:rPr lang="zh-TW" altLang="en-US" sz="5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顯示符合關鍵字的商品列表</a:t>
            </a:r>
          </a:p>
          <a:p>
            <a:r>
              <a:rPr lang="zh-TW" altLang="en-US" sz="5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提供排序功能：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zh-TW" altLang="en-US" sz="5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綜合排名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zh-TW" altLang="en-US" sz="5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熱銷排行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zh-TW" altLang="en-US" sz="5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最新商品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zh-TW" altLang="en-US" sz="5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價格由低到高 </a:t>
            </a:r>
            <a:r>
              <a:rPr lang="en-US" altLang="zh-TW" sz="5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 </a:t>
            </a:r>
            <a:r>
              <a:rPr lang="zh-TW" altLang="en-US" sz="5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由高到低</a:t>
            </a:r>
          </a:p>
          <a:p>
            <a:pPr marL="0" indent="0">
              <a:buNone/>
            </a:pPr>
            <a:endParaRPr lang="en-US" altLang="zh-TW" sz="1400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3" name="內容版面配置區 1">
            <a:extLst>
              <a:ext uri="{FF2B5EF4-FFF2-40B4-BE49-F238E27FC236}">
                <a16:creationId xmlns:a16="http://schemas.microsoft.com/office/drawing/2014/main" id="{ED44515F-6A15-4144-AFCA-4448A1D438D0}"/>
              </a:ext>
            </a:extLst>
          </p:cNvPr>
          <p:cNvSpPr txBox="1">
            <a:spLocks/>
          </p:cNvSpPr>
          <p:nvPr/>
        </p:nvSpPr>
        <p:spPr>
          <a:xfrm>
            <a:off x="7105647" y="4160324"/>
            <a:ext cx="4201585" cy="19102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2.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設定各排序邏輯：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綜合排名（可定義優先條件）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熱銷排行（依銷量）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最新商品（依上架時間）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價格排序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啟用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停用特定排序選項</a:t>
            </a:r>
            <a:endParaRPr lang="en-US" altLang="zh-TW" sz="1400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1C3E0321-A49C-442C-BFFF-92BCF8604697}"/>
              </a:ext>
            </a:extLst>
          </p:cNvPr>
          <p:cNvCxnSpPr/>
          <p:nvPr/>
        </p:nvCxnSpPr>
        <p:spPr>
          <a:xfrm>
            <a:off x="1655229" y="3869267"/>
            <a:ext cx="888154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89429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1">
            <a:extLst>
              <a:ext uri="{FF2B5EF4-FFF2-40B4-BE49-F238E27FC236}">
                <a16:creationId xmlns:a16="http://schemas.microsoft.com/office/drawing/2014/main" id="{5C9DD470-260A-4B83-8CFF-A892D736E428}"/>
              </a:ext>
            </a:extLst>
          </p:cNvPr>
          <p:cNvSpPr txBox="1">
            <a:spLocks/>
          </p:cNvSpPr>
          <p:nvPr/>
        </p:nvSpPr>
        <p:spPr>
          <a:xfrm>
            <a:off x="2239433" y="840825"/>
            <a:ext cx="1595967" cy="3841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TW" altLang="en-US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前台｜商品頁</a:t>
            </a:r>
          </a:p>
        </p:txBody>
      </p:sp>
      <p:sp>
        <p:nvSpPr>
          <p:cNvPr id="6" name="內容版面配置區 1">
            <a:extLst>
              <a:ext uri="{FF2B5EF4-FFF2-40B4-BE49-F238E27FC236}">
                <a16:creationId xmlns:a16="http://schemas.microsoft.com/office/drawing/2014/main" id="{E023BFFE-3FEB-4B14-885B-F170D074B992}"/>
              </a:ext>
            </a:extLst>
          </p:cNvPr>
          <p:cNvSpPr txBox="1">
            <a:spLocks/>
          </p:cNvSpPr>
          <p:nvPr/>
        </p:nvSpPr>
        <p:spPr>
          <a:xfrm>
            <a:off x="1147234" y="1541754"/>
            <a:ext cx="3939120" cy="19356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1.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商品基本資訊與規格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商品名稱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商品圖片（可左右滑）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商品分類（板材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地板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配件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…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點選縮圖即可即時顯示對應價格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未選擇規格則無法下單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內容版面配置區 1">
            <a:extLst>
              <a:ext uri="{FF2B5EF4-FFF2-40B4-BE49-F238E27FC236}">
                <a16:creationId xmlns:a16="http://schemas.microsoft.com/office/drawing/2014/main" id="{5099FBB2-378F-4BDE-852E-962185397FC5}"/>
              </a:ext>
            </a:extLst>
          </p:cNvPr>
          <p:cNvSpPr txBox="1">
            <a:spLocks/>
          </p:cNvSpPr>
          <p:nvPr/>
        </p:nvSpPr>
        <p:spPr>
          <a:xfrm>
            <a:off x="7105647" y="1541754"/>
            <a:ext cx="3939120" cy="15578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1.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管理功能：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建立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編輯商品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建立多組規格選項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為每個規格設定價格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對應縮圖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是否可以下單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內容版面配置區 1">
            <a:extLst>
              <a:ext uri="{FF2B5EF4-FFF2-40B4-BE49-F238E27FC236}">
                <a16:creationId xmlns:a16="http://schemas.microsoft.com/office/drawing/2014/main" id="{6C1B6EDA-BB49-4400-9A43-8CF55EFFA642}"/>
              </a:ext>
            </a:extLst>
          </p:cNvPr>
          <p:cNvSpPr txBox="1">
            <a:spLocks/>
          </p:cNvSpPr>
          <p:nvPr/>
        </p:nvSpPr>
        <p:spPr>
          <a:xfrm>
            <a:off x="7366002" y="840824"/>
            <a:ext cx="3064932" cy="3841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TW" altLang="en-US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後台｜商品維護與管理內容</a:t>
            </a:r>
          </a:p>
        </p:txBody>
      </p:sp>
      <p:sp>
        <p:nvSpPr>
          <p:cNvPr id="13" name="內容版面配置區 1">
            <a:extLst>
              <a:ext uri="{FF2B5EF4-FFF2-40B4-BE49-F238E27FC236}">
                <a16:creationId xmlns:a16="http://schemas.microsoft.com/office/drawing/2014/main" id="{ED44515F-6A15-4144-AFCA-4448A1D438D0}"/>
              </a:ext>
            </a:extLst>
          </p:cNvPr>
          <p:cNvSpPr txBox="1">
            <a:spLocks/>
          </p:cNvSpPr>
          <p:nvPr/>
        </p:nvSpPr>
        <p:spPr>
          <a:xfrm>
            <a:off x="7105646" y="3600076"/>
            <a:ext cx="4201585" cy="13359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2.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到貨時間與出貨狀態設定：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設定商品的預設交期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設定出貨狀態編輯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可依商品或規格不同調整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內容版面配置區 1">
            <a:extLst>
              <a:ext uri="{FF2B5EF4-FFF2-40B4-BE49-F238E27FC236}">
                <a16:creationId xmlns:a16="http://schemas.microsoft.com/office/drawing/2014/main" id="{5FD86D30-5E91-4A36-ABED-803195FA4A49}"/>
              </a:ext>
            </a:extLst>
          </p:cNvPr>
          <p:cNvSpPr txBox="1">
            <a:spLocks/>
          </p:cNvSpPr>
          <p:nvPr/>
        </p:nvSpPr>
        <p:spPr>
          <a:xfrm>
            <a:off x="1147233" y="3600075"/>
            <a:ext cx="3939120" cy="15970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2.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顯示到貨時間與出貨狀態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訂單確認中</a:t>
            </a:r>
          </a:p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理貨中</a:t>
            </a:r>
          </a:p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出貨中</a:t>
            </a:r>
          </a:p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已送達</a:t>
            </a:r>
          </a:p>
          <a:p>
            <a:pPr marL="0" indent="0">
              <a:buNone/>
            </a:pP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buAutoNum type="arabicPeriod"/>
            </a:pP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" name="內容版面配置區 1">
            <a:extLst>
              <a:ext uri="{FF2B5EF4-FFF2-40B4-BE49-F238E27FC236}">
                <a16:creationId xmlns:a16="http://schemas.microsoft.com/office/drawing/2014/main" id="{5900BBE8-618D-41BB-8EAE-1302B0AEDA5F}"/>
              </a:ext>
            </a:extLst>
          </p:cNvPr>
          <p:cNvSpPr txBox="1">
            <a:spLocks/>
          </p:cNvSpPr>
          <p:nvPr/>
        </p:nvSpPr>
        <p:spPr>
          <a:xfrm>
            <a:off x="1147234" y="5310702"/>
            <a:ext cx="3939120" cy="87996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3.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交期風險提示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正常交期</a:t>
            </a:r>
          </a:p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可能延長的情況（特殊規格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客製）</a:t>
            </a:r>
          </a:p>
          <a:p>
            <a:pPr marL="0" indent="0">
              <a:buNone/>
            </a:pP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buAutoNum type="arabicPeriod"/>
            </a:pP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" name="內容版面配置區 1">
            <a:extLst>
              <a:ext uri="{FF2B5EF4-FFF2-40B4-BE49-F238E27FC236}">
                <a16:creationId xmlns:a16="http://schemas.microsoft.com/office/drawing/2014/main" id="{A50151E8-4A3F-49E6-AF6A-5E47CA35CDE2}"/>
              </a:ext>
            </a:extLst>
          </p:cNvPr>
          <p:cNvSpPr txBox="1">
            <a:spLocks/>
          </p:cNvSpPr>
          <p:nvPr/>
        </p:nvSpPr>
        <p:spPr>
          <a:xfrm>
            <a:off x="7105647" y="5310701"/>
            <a:ext cx="3939120" cy="8799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3.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交期風險提示設定</a:t>
            </a:r>
          </a:p>
          <a:p>
            <a:pPr marL="342900" indent="-342900">
              <a:buAutoNum type="arabicPeriod"/>
            </a:pP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745479D3-7BD7-4ADF-BD23-1B288698A7B8}"/>
              </a:ext>
            </a:extLst>
          </p:cNvPr>
          <p:cNvCxnSpPr>
            <a:cxnSpLocks/>
          </p:cNvCxnSpPr>
          <p:nvPr/>
        </p:nvCxnSpPr>
        <p:spPr>
          <a:xfrm>
            <a:off x="1240363" y="5173133"/>
            <a:ext cx="980440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0B94FDAF-8F69-4DFC-B0E4-07502C2C4F02}"/>
              </a:ext>
            </a:extLst>
          </p:cNvPr>
          <p:cNvCxnSpPr>
            <a:cxnSpLocks/>
          </p:cNvCxnSpPr>
          <p:nvPr/>
        </p:nvCxnSpPr>
        <p:spPr>
          <a:xfrm>
            <a:off x="1147233" y="3460503"/>
            <a:ext cx="982556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04914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1">
            <a:extLst>
              <a:ext uri="{FF2B5EF4-FFF2-40B4-BE49-F238E27FC236}">
                <a16:creationId xmlns:a16="http://schemas.microsoft.com/office/drawing/2014/main" id="{5C9DD470-260A-4B83-8CFF-A892D736E428}"/>
              </a:ext>
            </a:extLst>
          </p:cNvPr>
          <p:cNvSpPr txBox="1">
            <a:spLocks/>
          </p:cNvSpPr>
          <p:nvPr/>
        </p:nvSpPr>
        <p:spPr>
          <a:xfrm>
            <a:off x="2239433" y="840825"/>
            <a:ext cx="1595967" cy="3841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TW" altLang="en-US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前台｜商品頁</a:t>
            </a:r>
          </a:p>
        </p:txBody>
      </p:sp>
      <p:sp>
        <p:nvSpPr>
          <p:cNvPr id="6" name="內容版面配置區 1">
            <a:extLst>
              <a:ext uri="{FF2B5EF4-FFF2-40B4-BE49-F238E27FC236}">
                <a16:creationId xmlns:a16="http://schemas.microsoft.com/office/drawing/2014/main" id="{E023BFFE-3FEB-4B14-885B-F170D074B992}"/>
              </a:ext>
            </a:extLst>
          </p:cNvPr>
          <p:cNvSpPr txBox="1">
            <a:spLocks/>
          </p:cNvSpPr>
          <p:nvPr/>
        </p:nvSpPr>
        <p:spPr>
          <a:xfrm>
            <a:off x="1147234" y="1727593"/>
            <a:ext cx="3939120" cy="9982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4.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商品分享功能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商品頁可直接分享至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LINE/FB/IG/WhatsApp</a:t>
            </a:r>
          </a:p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複製商品連結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內容版面配置區 1">
            <a:extLst>
              <a:ext uri="{FF2B5EF4-FFF2-40B4-BE49-F238E27FC236}">
                <a16:creationId xmlns:a16="http://schemas.microsoft.com/office/drawing/2014/main" id="{5099FBB2-378F-4BDE-852E-962185397FC5}"/>
              </a:ext>
            </a:extLst>
          </p:cNvPr>
          <p:cNvSpPr txBox="1">
            <a:spLocks/>
          </p:cNvSpPr>
          <p:nvPr/>
        </p:nvSpPr>
        <p:spPr>
          <a:xfrm>
            <a:off x="7105646" y="1727594"/>
            <a:ext cx="4307420" cy="9982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4.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商品分享設定：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設定哪些商品可分享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設定分享時顯示的預設圖片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商品名稱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簡短描述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內容版面配置區 1">
            <a:extLst>
              <a:ext uri="{FF2B5EF4-FFF2-40B4-BE49-F238E27FC236}">
                <a16:creationId xmlns:a16="http://schemas.microsoft.com/office/drawing/2014/main" id="{6C1B6EDA-BB49-4400-9A43-8CF55EFFA642}"/>
              </a:ext>
            </a:extLst>
          </p:cNvPr>
          <p:cNvSpPr txBox="1">
            <a:spLocks/>
          </p:cNvSpPr>
          <p:nvPr/>
        </p:nvSpPr>
        <p:spPr>
          <a:xfrm>
            <a:off x="7919507" y="838474"/>
            <a:ext cx="2311398" cy="3841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TW" altLang="en-US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後台｜商品維護管理</a:t>
            </a:r>
          </a:p>
        </p:txBody>
      </p:sp>
      <p:sp>
        <p:nvSpPr>
          <p:cNvPr id="13" name="內容版面配置區 1">
            <a:extLst>
              <a:ext uri="{FF2B5EF4-FFF2-40B4-BE49-F238E27FC236}">
                <a16:creationId xmlns:a16="http://schemas.microsoft.com/office/drawing/2014/main" id="{ED44515F-6A15-4144-AFCA-4448A1D438D0}"/>
              </a:ext>
            </a:extLst>
          </p:cNvPr>
          <p:cNvSpPr txBox="1">
            <a:spLocks/>
          </p:cNvSpPr>
          <p:nvPr/>
        </p:nvSpPr>
        <p:spPr>
          <a:xfrm>
            <a:off x="7105646" y="3143904"/>
            <a:ext cx="4231221" cy="15104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5.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搭配商品管理：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設定常一起下單的配件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設定建議搭配的邊條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五金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設定顯示順序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設定是否為必搭提醒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內容版面配置區 1">
            <a:extLst>
              <a:ext uri="{FF2B5EF4-FFF2-40B4-BE49-F238E27FC236}">
                <a16:creationId xmlns:a16="http://schemas.microsoft.com/office/drawing/2014/main" id="{5FD86D30-5E91-4A36-ABED-803195FA4A49}"/>
              </a:ext>
            </a:extLst>
          </p:cNvPr>
          <p:cNvSpPr txBox="1">
            <a:spLocks/>
          </p:cNvSpPr>
          <p:nvPr/>
        </p:nvSpPr>
        <p:spPr>
          <a:xfrm>
            <a:off x="1147234" y="3146515"/>
            <a:ext cx="4059766" cy="123921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5.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商品搭配提示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常一起下單的配件</a:t>
            </a:r>
          </a:p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建議搭配的邊條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五金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en-US" altLang="zh-TW" sz="1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&gt;</a:t>
            </a:r>
            <a:r>
              <a:rPr lang="zh-TW" altLang="en-US" sz="1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可預防漏料</a:t>
            </a:r>
          </a:p>
          <a:p>
            <a:pPr marL="0" indent="0">
              <a:buNone/>
            </a:pP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buAutoNum type="arabicPeriod"/>
            </a:pP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" name="內容版面配置區 1">
            <a:extLst>
              <a:ext uri="{FF2B5EF4-FFF2-40B4-BE49-F238E27FC236}">
                <a16:creationId xmlns:a16="http://schemas.microsoft.com/office/drawing/2014/main" id="{5900BBE8-618D-41BB-8EAE-1302B0AEDA5F}"/>
              </a:ext>
            </a:extLst>
          </p:cNvPr>
          <p:cNvSpPr txBox="1">
            <a:spLocks/>
          </p:cNvSpPr>
          <p:nvPr/>
        </p:nvSpPr>
        <p:spPr>
          <a:xfrm>
            <a:off x="1147234" y="4979133"/>
            <a:ext cx="3939120" cy="117840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6. </a:t>
            </a:r>
            <a:r>
              <a:rPr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下單操作</a:t>
            </a:r>
            <a:endParaRPr lang="en-US" altLang="zh-TW" sz="15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選擇規格 </a:t>
            </a:r>
            <a:r>
              <a:rPr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 </a:t>
            </a:r>
            <a:r>
              <a:rPr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數量</a:t>
            </a:r>
            <a:endParaRPr lang="en-US" altLang="zh-TW" sz="15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填寫備註（施工 </a:t>
            </a:r>
            <a:r>
              <a:rPr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 </a:t>
            </a:r>
            <a:r>
              <a:rPr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設計需求）</a:t>
            </a:r>
            <a:endParaRPr lang="en-US" altLang="zh-TW" sz="15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加入購物車 或 直接下單</a:t>
            </a:r>
          </a:p>
          <a:p>
            <a:pPr marL="0" indent="0">
              <a:buNone/>
            </a:pP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buAutoNum type="arabicPeriod"/>
            </a:pP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" name="內容版面配置區 1">
            <a:extLst>
              <a:ext uri="{FF2B5EF4-FFF2-40B4-BE49-F238E27FC236}">
                <a16:creationId xmlns:a16="http://schemas.microsoft.com/office/drawing/2014/main" id="{A50151E8-4A3F-49E6-AF6A-5E47CA35CDE2}"/>
              </a:ext>
            </a:extLst>
          </p:cNvPr>
          <p:cNvSpPr txBox="1">
            <a:spLocks/>
          </p:cNvSpPr>
          <p:nvPr/>
        </p:nvSpPr>
        <p:spPr>
          <a:xfrm>
            <a:off x="7105646" y="4979133"/>
            <a:ext cx="3939120" cy="87996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6.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下單操作管理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設定必選欄位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確認使用者選擇的商品規格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備註內容</a:t>
            </a:r>
          </a:p>
          <a:p>
            <a:pPr marL="342900" indent="-342900">
              <a:buAutoNum type="arabicPeriod"/>
            </a:pP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DD901E24-1E0C-465D-9B77-1606CE3CFE7C}"/>
              </a:ext>
            </a:extLst>
          </p:cNvPr>
          <p:cNvCxnSpPr>
            <a:cxnSpLocks/>
          </p:cNvCxnSpPr>
          <p:nvPr/>
        </p:nvCxnSpPr>
        <p:spPr>
          <a:xfrm>
            <a:off x="1183216" y="2893237"/>
            <a:ext cx="982556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C7C44DAA-50DB-4813-8B40-D0A642D1295A}"/>
              </a:ext>
            </a:extLst>
          </p:cNvPr>
          <p:cNvCxnSpPr>
            <a:cxnSpLocks/>
          </p:cNvCxnSpPr>
          <p:nvPr/>
        </p:nvCxnSpPr>
        <p:spPr>
          <a:xfrm>
            <a:off x="1183216" y="4755904"/>
            <a:ext cx="982556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38187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1">
            <a:extLst>
              <a:ext uri="{FF2B5EF4-FFF2-40B4-BE49-F238E27FC236}">
                <a16:creationId xmlns:a16="http://schemas.microsoft.com/office/drawing/2014/main" id="{5C9DD470-260A-4B83-8CFF-A892D736E428}"/>
              </a:ext>
            </a:extLst>
          </p:cNvPr>
          <p:cNvSpPr txBox="1">
            <a:spLocks/>
          </p:cNvSpPr>
          <p:nvPr/>
        </p:nvSpPr>
        <p:spPr>
          <a:xfrm>
            <a:off x="2239433" y="840825"/>
            <a:ext cx="1595967" cy="3841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TW" altLang="en-US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前台｜下單</a:t>
            </a:r>
          </a:p>
        </p:txBody>
      </p:sp>
      <p:sp>
        <p:nvSpPr>
          <p:cNvPr id="6" name="內容版面配置區 1">
            <a:extLst>
              <a:ext uri="{FF2B5EF4-FFF2-40B4-BE49-F238E27FC236}">
                <a16:creationId xmlns:a16="http://schemas.microsoft.com/office/drawing/2014/main" id="{E023BFFE-3FEB-4B14-885B-F170D074B992}"/>
              </a:ext>
            </a:extLst>
          </p:cNvPr>
          <p:cNvSpPr txBox="1">
            <a:spLocks/>
          </p:cNvSpPr>
          <p:nvPr/>
        </p:nvSpPr>
        <p:spPr>
          <a:xfrm>
            <a:off x="1147234" y="1727593"/>
            <a:ext cx="4542366" cy="9982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1.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常用下單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使用者可將「某一筆已完成訂單」儲存為 常用模板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在下單時可一鍵複製該模板，只需修改數量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交期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內容版面配置區 1">
            <a:extLst>
              <a:ext uri="{FF2B5EF4-FFF2-40B4-BE49-F238E27FC236}">
                <a16:creationId xmlns:a16="http://schemas.microsoft.com/office/drawing/2014/main" id="{6C1B6EDA-BB49-4400-9A43-8CF55EFFA642}"/>
              </a:ext>
            </a:extLst>
          </p:cNvPr>
          <p:cNvSpPr txBox="1">
            <a:spLocks/>
          </p:cNvSpPr>
          <p:nvPr/>
        </p:nvSpPr>
        <p:spPr>
          <a:xfrm>
            <a:off x="7919507" y="838474"/>
            <a:ext cx="2311398" cy="3841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TW" altLang="en-US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後台｜下單維護管理</a:t>
            </a:r>
          </a:p>
        </p:txBody>
      </p: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DD901E24-1E0C-465D-9B77-1606CE3CFE7C}"/>
              </a:ext>
            </a:extLst>
          </p:cNvPr>
          <p:cNvCxnSpPr>
            <a:cxnSpLocks/>
          </p:cNvCxnSpPr>
          <p:nvPr/>
        </p:nvCxnSpPr>
        <p:spPr>
          <a:xfrm>
            <a:off x="1183216" y="2893237"/>
            <a:ext cx="982556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內容版面配置區 1">
            <a:extLst>
              <a:ext uri="{FF2B5EF4-FFF2-40B4-BE49-F238E27FC236}">
                <a16:creationId xmlns:a16="http://schemas.microsoft.com/office/drawing/2014/main" id="{B41923B7-CF0F-4E39-AA4D-731A85F99C1F}"/>
              </a:ext>
            </a:extLst>
          </p:cNvPr>
          <p:cNvSpPr txBox="1">
            <a:spLocks/>
          </p:cNvSpPr>
          <p:nvPr/>
        </p:nvSpPr>
        <p:spPr>
          <a:xfrm>
            <a:off x="1147234" y="3228414"/>
            <a:ext cx="4542366" cy="9982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2.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最近一次下單商品快速入口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在「首頁」或「商品頁」顯示：最近下單過的商品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點擊即可直接再次下單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內容版面配置區 1">
            <a:extLst>
              <a:ext uri="{FF2B5EF4-FFF2-40B4-BE49-F238E27FC236}">
                <a16:creationId xmlns:a16="http://schemas.microsoft.com/office/drawing/2014/main" id="{8EEFAFFD-741A-49D3-8577-91BA5193A0AD}"/>
              </a:ext>
            </a:extLst>
          </p:cNvPr>
          <p:cNvSpPr txBox="1">
            <a:spLocks/>
          </p:cNvSpPr>
          <p:nvPr/>
        </p:nvSpPr>
        <p:spPr>
          <a:xfrm>
            <a:off x="1147234" y="4734278"/>
            <a:ext cx="4542366" cy="9982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3.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商品「適用情境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常見用途」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適合：電視牆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櫃體背板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門片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常用於：住宅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商辦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商空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12F951B9-5C9C-4F58-BC64-FE71BABAC55B}"/>
              </a:ext>
            </a:extLst>
          </p:cNvPr>
          <p:cNvCxnSpPr>
            <a:cxnSpLocks/>
          </p:cNvCxnSpPr>
          <p:nvPr/>
        </p:nvCxnSpPr>
        <p:spPr>
          <a:xfrm>
            <a:off x="1183215" y="4391837"/>
            <a:ext cx="982556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內容版面配置區 1">
            <a:extLst>
              <a:ext uri="{FF2B5EF4-FFF2-40B4-BE49-F238E27FC236}">
                <a16:creationId xmlns:a16="http://schemas.microsoft.com/office/drawing/2014/main" id="{945B086B-DF14-4BA4-AA3C-2101C12274AA}"/>
              </a:ext>
            </a:extLst>
          </p:cNvPr>
          <p:cNvSpPr txBox="1">
            <a:spLocks/>
          </p:cNvSpPr>
          <p:nvPr/>
        </p:nvSpPr>
        <p:spPr>
          <a:xfrm>
            <a:off x="6804023" y="1727593"/>
            <a:ext cx="4542366" cy="9982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1.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常用下單管理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系統儲存使用者的常用訂單模板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管理者可查看模板內容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3" name="內容版面配置區 1">
            <a:extLst>
              <a:ext uri="{FF2B5EF4-FFF2-40B4-BE49-F238E27FC236}">
                <a16:creationId xmlns:a16="http://schemas.microsoft.com/office/drawing/2014/main" id="{6BB10D84-2E99-49B8-A47F-59F9346E3337}"/>
              </a:ext>
            </a:extLst>
          </p:cNvPr>
          <p:cNvSpPr txBox="1">
            <a:spLocks/>
          </p:cNvSpPr>
          <p:nvPr/>
        </p:nvSpPr>
        <p:spPr>
          <a:xfrm>
            <a:off x="6804023" y="2997203"/>
            <a:ext cx="4542366" cy="139461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2.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最近下單商品邏輯管理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設定最近下單的判斷條件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依時間（如近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30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天）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依下單次數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控制顯示數量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" name="內容版面配置區 1">
            <a:extLst>
              <a:ext uri="{FF2B5EF4-FFF2-40B4-BE49-F238E27FC236}">
                <a16:creationId xmlns:a16="http://schemas.microsoft.com/office/drawing/2014/main" id="{1BDF73F8-0677-4977-8A07-CE5D56B578BE}"/>
              </a:ext>
            </a:extLst>
          </p:cNvPr>
          <p:cNvSpPr txBox="1">
            <a:spLocks/>
          </p:cNvSpPr>
          <p:nvPr/>
        </p:nvSpPr>
        <p:spPr>
          <a:xfrm>
            <a:off x="6804023" y="4734278"/>
            <a:ext cx="4542366" cy="9982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3.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後台管理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為商品設定：適用情境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常見用途標籤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可新增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編輯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刪除標籤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510025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1">
            <a:extLst>
              <a:ext uri="{FF2B5EF4-FFF2-40B4-BE49-F238E27FC236}">
                <a16:creationId xmlns:a16="http://schemas.microsoft.com/office/drawing/2014/main" id="{5C9DD470-260A-4B83-8CFF-A892D736E428}"/>
              </a:ext>
            </a:extLst>
          </p:cNvPr>
          <p:cNvSpPr txBox="1">
            <a:spLocks/>
          </p:cNvSpPr>
          <p:nvPr/>
        </p:nvSpPr>
        <p:spPr>
          <a:xfrm>
            <a:off x="2239433" y="840825"/>
            <a:ext cx="1595967" cy="3841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TW" altLang="en-US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前台｜下單</a:t>
            </a:r>
          </a:p>
        </p:txBody>
      </p:sp>
      <p:sp>
        <p:nvSpPr>
          <p:cNvPr id="6" name="內容版面配置區 1">
            <a:extLst>
              <a:ext uri="{FF2B5EF4-FFF2-40B4-BE49-F238E27FC236}">
                <a16:creationId xmlns:a16="http://schemas.microsoft.com/office/drawing/2014/main" id="{E023BFFE-3FEB-4B14-885B-F170D074B992}"/>
              </a:ext>
            </a:extLst>
          </p:cNvPr>
          <p:cNvSpPr txBox="1">
            <a:spLocks/>
          </p:cNvSpPr>
          <p:nvPr/>
        </p:nvSpPr>
        <p:spPr>
          <a:xfrm>
            <a:off x="1147234" y="1727592"/>
            <a:ext cx="4745566" cy="10579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4.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訂單備註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下單時提供：勾選項目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+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補充說明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勾選類型例如：施工注意事項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特殊裁切需求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現場限制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內容版面配置區 1">
            <a:extLst>
              <a:ext uri="{FF2B5EF4-FFF2-40B4-BE49-F238E27FC236}">
                <a16:creationId xmlns:a16="http://schemas.microsoft.com/office/drawing/2014/main" id="{5099FBB2-378F-4BDE-852E-962185397FC5}"/>
              </a:ext>
            </a:extLst>
          </p:cNvPr>
          <p:cNvSpPr txBox="1">
            <a:spLocks/>
          </p:cNvSpPr>
          <p:nvPr/>
        </p:nvSpPr>
        <p:spPr>
          <a:xfrm>
            <a:off x="7105645" y="1727592"/>
            <a:ext cx="3723222" cy="18792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4.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管理可勾選的備註類型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施工注意事項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特殊裁切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現場限制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設定是否必填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設定顯示順序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內容版面配置區 1">
            <a:extLst>
              <a:ext uri="{FF2B5EF4-FFF2-40B4-BE49-F238E27FC236}">
                <a16:creationId xmlns:a16="http://schemas.microsoft.com/office/drawing/2014/main" id="{6C1B6EDA-BB49-4400-9A43-8CF55EFFA642}"/>
              </a:ext>
            </a:extLst>
          </p:cNvPr>
          <p:cNvSpPr txBox="1">
            <a:spLocks/>
          </p:cNvSpPr>
          <p:nvPr/>
        </p:nvSpPr>
        <p:spPr>
          <a:xfrm>
            <a:off x="7919507" y="838474"/>
            <a:ext cx="2311398" cy="3841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TW" altLang="en-US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後台｜下單維護管理</a:t>
            </a:r>
          </a:p>
        </p:txBody>
      </p: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DD901E24-1E0C-465D-9B77-1606CE3CFE7C}"/>
              </a:ext>
            </a:extLst>
          </p:cNvPr>
          <p:cNvCxnSpPr>
            <a:cxnSpLocks/>
          </p:cNvCxnSpPr>
          <p:nvPr/>
        </p:nvCxnSpPr>
        <p:spPr>
          <a:xfrm>
            <a:off x="1183216" y="3807636"/>
            <a:ext cx="982556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內容版面配置區 1">
            <a:extLst>
              <a:ext uri="{FF2B5EF4-FFF2-40B4-BE49-F238E27FC236}">
                <a16:creationId xmlns:a16="http://schemas.microsoft.com/office/drawing/2014/main" id="{B41923B7-CF0F-4E39-AA4D-731A85F99C1F}"/>
              </a:ext>
            </a:extLst>
          </p:cNvPr>
          <p:cNvSpPr txBox="1">
            <a:spLocks/>
          </p:cNvSpPr>
          <p:nvPr/>
        </p:nvSpPr>
        <p:spPr>
          <a:xfrm>
            <a:off x="1147234" y="4057331"/>
            <a:ext cx="4542366" cy="9982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5.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商品比較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可勾選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2–3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個商品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顯示對照表：尺寸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花色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適用情境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內容版面配置區 1">
            <a:extLst>
              <a:ext uri="{FF2B5EF4-FFF2-40B4-BE49-F238E27FC236}">
                <a16:creationId xmlns:a16="http://schemas.microsoft.com/office/drawing/2014/main" id="{F325CC59-D8AD-4481-8B25-6ECC591E9000}"/>
              </a:ext>
            </a:extLst>
          </p:cNvPr>
          <p:cNvSpPr txBox="1">
            <a:spLocks/>
          </p:cNvSpPr>
          <p:nvPr/>
        </p:nvSpPr>
        <p:spPr>
          <a:xfrm>
            <a:off x="7105645" y="4057331"/>
            <a:ext cx="4542366" cy="9982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5.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商品比較規則管理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設定可勾選數量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設定哪些欄位可被比較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尺寸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花色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用途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98558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1">
            <a:extLst>
              <a:ext uri="{FF2B5EF4-FFF2-40B4-BE49-F238E27FC236}">
                <a16:creationId xmlns:a16="http://schemas.microsoft.com/office/drawing/2014/main" id="{5C9DD470-260A-4B83-8CFF-A892D736E428}"/>
              </a:ext>
            </a:extLst>
          </p:cNvPr>
          <p:cNvSpPr txBox="1">
            <a:spLocks/>
          </p:cNvSpPr>
          <p:nvPr/>
        </p:nvSpPr>
        <p:spPr>
          <a:xfrm>
            <a:off x="2239433" y="840825"/>
            <a:ext cx="1595967" cy="3841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TW" altLang="en-US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前台｜金流</a:t>
            </a:r>
          </a:p>
        </p:txBody>
      </p:sp>
      <p:sp>
        <p:nvSpPr>
          <p:cNvPr id="6" name="內容版面配置區 1">
            <a:extLst>
              <a:ext uri="{FF2B5EF4-FFF2-40B4-BE49-F238E27FC236}">
                <a16:creationId xmlns:a16="http://schemas.microsoft.com/office/drawing/2014/main" id="{E023BFFE-3FEB-4B14-885B-F170D074B992}"/>
              </a:ext>
            </a:extLst>
          </p:cNvPr>
          <p:cNvSpPr txBox="1">
            <a:spLocks/>
          </p:cNvSpPr>
          <p:nvPr/>
        </p:nvSpPr>
        <p:spPr>
          <a:xfrm>
            <a:off x="1147234" y="1727592"/>
            <a:ext cx="5050366" cy="45123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1.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預付款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儲值金（類蝦幣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 </a:t>
            </a:r>
            <a:r>
              <a:rPr lang="en-US" altLang="zh-TW" sz="1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momo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幣）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顯示「可用預付款餘額」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下單時可選擇：使用全部預付款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使用部分預付款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清楚顯示本次扣款金額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剩餘餘額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2.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優惠折扣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折扣碼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下單頁提供折扣碼輸入欄位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顯示折扣金額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折扣後應付金額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若不符合使用條件，顯示原因說明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3.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付款方式與種類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提供多種付款方式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銀行轉帳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信用卡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行動支付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信用卡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顯示付款狀態（未付款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已付款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確認中）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4.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發票與帳務資訊填寫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下單時填寫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是否需要發票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紙本發票種類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二聯式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三聯式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)/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統一編號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發票抬頭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endParaRPr lang="en-US" altLang="zh-TW" sz="1400" dirty="0"/>
          </a:p>
          <a:p>
            <a:pPr marL="0" indent="0">
              <a:buNone/>
            </a:pPr>
            <a:endParaRPr lang="en-US" altLang="zh-TW" sz="1400" dirty="0"/>
          </a:p>
        </p:txBody>
      </p:sp>
      <p:sp>
        <p:nvSpPr>
          <p:cNvPr id="11" name="內容版面配置區 1">
            <a:extLst>
              <a:ext uri="{FF2B5EF4-FFF2-40B4-BE49-F238E27FC236}">
                <a16:creationId xmlns:a16="http://schemas.microsoft.com/office/drawing/2014/main" id="{6C1B6EDA-BB49-4400-9A43-8CF55EFFA642}"/>
              </a:ext>
            </a:extLst>
          </p:cNvPr>
          <p:cNvSpPr txBox="1">
            <a:spLocks/>
          </p:cNvSpPr>
          <p:nvPr/>
        </p:nvSpPr>
        <p:spPr>
          <a:xfrm>
            <a:off x="7919507" y="838474"/>
            <a:ext cx="2311398" cy="3841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TW" altLang="en-US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後台｜金流維護管理</a:t>
            </a:r>
          </a:p>
        </p:txBody>
      </p:sp>
      <p:sp>
        <p:nvSpPr>
          <p:cNvPr id="9" name="內容版面配置區 1">
            <a:extLst>
              <a:ext uri="{FF2B5EF4-FFF2-40B4-BE49-F238E27FC236}">
                <a16:creationId xmlns:a16="http://schemas.microsoft.com/office/drawing/2014/main" id="{E255468E-AFD2-4F79-8B0D-1F8B21D6DF09}"/>
              </a:ext>
            </a:extLst>
          </p:cNvPr>
          <p:cNvSpPr txBox="1">
            <a:spLocks/>
          </p:cNvSpPr>
          <p:nvPr/>
        </p:nvSpPr>
        <p:spPr>
          <a:xfrm>
            <a:off x="6650567" y="1727592"/>
            <a:ext cx="5050366" cy="45123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1.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預付款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儲值管理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建立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管理客戶的預付款帳戶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記錄：儲值金額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使用紀錄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餘額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支援人工加值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2.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折扣與優惠管理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建立折扣碼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設定折扣方式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使用期限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適用對象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是否可與其他優惠併用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查看折扣使用紀錄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3.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付款方式管理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設定可用支付方式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串接第三方金流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查看付款狀態：成功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失敗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待確認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4.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會計帳與發票管理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設定開立電子發票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紙本發票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輸入統一編號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82964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內容版面配置區 1">
            <a:extLst>
              <a:ext uri="{FF2B5EF4-FFF2-40B4-BE49-F238E27FC236}">
                <a16:creationId xmlns:a16="http://schemas.microsoft.com/office/drawing/2014/main" id="{2049F9BC-3173-4210-8443-3171360831EA}"/>
              </a:ext>
            </a:extLst>
          </p:cNvPr>
          <p:cNvSpPr txBox="1">
            <a:spLocks/>
          </p:cNvSpPr>
          <p:nvPr/>
        </p:nvSpPr>
        <p:spPr>
          <a:xfrm>
            <a:off x="1116536" y="1659466"/>
            <a:ext cx="5341133" cy="22241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TW" sz="1400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內容版面配置區 1">
            <a:extLst>
              <a:ext uri="{FF2B5EF4-FFF2-40B4-BE49-F238E27FC236}">
                <a16:creationId xmlns:a16="http://schemas.microsoft.com/office/drawing/2014/main" id="{05BB92F1-DEE0-4C9D-8454-BDAD293575C0}"/>
              </a:ext>
            </a:extLst>
          </p:cNvPr>
          <p:cNvSpPr txBox="1">
            <a:spLocks/>
          </p:cNvSpPr>
          <p:nvPr/>
        </p:nvSpPr>
        <p:spPr>
          <a:xfrm>
            <a:off x="2239433" y="840825"/>
            <a:ext cx="1833034" cy="4884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TW" altLang="en-US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前台｜金流驗證</a:t>
            </a:r>
          </a:p>
        </p:txBody>
      </p:sp>
      <p:sp>
        <p:nvSpPr>
          <p:cNvPr id="8" name="內容版面配置區 1">
            <a:extLst>
              <a:ext uri="{FF2B5EF4-FFF2-40B4-BE49-F238E27FC236}">
                <a16:creationId xmlns:a16="http://schemas.microsoft.com/office/drawing/2014/main" id="{94AB0C3D-A363-44BF-A248-3ECD989A7C1B}"/>
              </a:ext>
            </a:extLst>
          </p:cNvPr>
          <p:cNvSpPr txBox="1">
            <a:spLocks/>
          </p:cNvSpPr>
          <p:nvPr/>
        </p:nvSpPr>
        <p:spPr>
          <a:xfrm>
            <a:off x="7658100" y="840825"/>
            <a:ext cx="3238500" cy="4884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TW" altLang="en-US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後台｜金流平台與裝置管理</a:t>
            </a:r>
          </a:p>
        </p:txBody>
      </p:sp>
      <p:sp>
        <p:nvSpPr>
          <p:cNvPr id="9" name="內容版面配置區 1">
            <a:extLst>
              <a:ext uri="{FF2B5EF4-FFF2-40B4-BE49-F238E27FC236}">
                <a16:creationId xmlns:a16="http://schemas.microsoft.com/office/drawing/2014/main" id="{59C65CF9-354C-46F1-B1B8-752BAA62726C}"/>
              </a:ext>
            </a:extLst>
          </p:cNvPr>
          <p:cNvSpPr txBox="1">
            <a:spLocks/>
          </p:cNvSpPr>
          <p:nvPr/>
        </p:nvSpPr>
        <p:spPr>
          <a:xfrm>
            <a:off x="1147233" y="1727592"/>
            <a:ext cx="5185833" cy="22241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1.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手機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APP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支援（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iOS / Android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2.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生物辨識驗證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3.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簡訊驗證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在關鍵行為觸發：首次登入新裝置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大額付款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/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修改付款設定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系統發送：一次性驗證碼（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OTP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4.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圖片驗證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5.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機器人驗證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endParaRPr lang="en-US" altLang="zh-TW" sz="1400" dirty="0"/>
          </a:p>
        </p:txBody>
      </p:sp>
      <p:sp>
        <p:nvSpPr>
          <p:cNvPr id="12" name="內容版面配置區 1">
            <a:extLst>
              <a:ext uri="{FF2B5EF4-FFF2-40B4-BE49-F238E27FC236}">
                <a16:creationId xmlns:a16="http://schemas.microsoft.com/office/drawing/2014/main" id="{414DFCBB-7273-4FBB-B3B7-F4E69D03E5EC}"/>
              </a:ext>
            </a:extLst>
          </p:cNvPr>
          <p:cNvSpPr txBox="1">
            <a:spLocks/>
          </p:cNvSpPr>
          <p:nvPr/>
        </p:nvSpPr>
        <p:spPr>
          <a:xfrm>
            <a:off x="6898217" y="1727592"/>
            <a:ext cx="5234516" cy="22178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1.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記錄使用者的登入裝置（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Web / iOS / Android)</a:t>
            </a:r>
          </a:p>
          <a:p>
            <a:pPr marL="0" indent="0">
              <a:buNone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2.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紀錄最近登入時間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3.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驗證機制管理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815247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BB074DD6-6762-46BB-8711-6FAEFB654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5541"/>
            <a:ext cx="10515600" cy="739792"/>
          </a:xfrm>
        </p:spPr>
        <p:txBody>
          <a:bodyPr>
            <a:norm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關聯帳號管理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ECA6DFD0-A152-4707-84D0-26D2FBBC3164}"/>
              </a:ext>
            </a:extLst>
          </p:cNvPr>
          <p:cNvSpPr/>
          <p:nvPr/>
        </p:nvSpPr>
        <p:spPr>
          <a:xfrm>
            <a:off x="977368" y="4254497"/>
            <a:ext cx="1151467" cy="660400"/>
          </a:xfrm>
          <a:prstGeom prst="roundRect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師傅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18C23ACB-6F57-4FDC-9628-DDB809C26CE9}"/>
              </a:ext>
            </a:extLst>
          </p:cNvPr>
          <p:cNvSpPr/>
          <p:nvPr/>
        </p:nvSpPr>
        <p:spPr>
          <a:xfrm>
            <a:off x="2915136" y="3594097"/>
            <a:ext cx="2263744" cy="660400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選擇商品</a:t>
            </a:r>
            <a:r>
              <a:rPr lang="en-US" altLang="zh-TW" dirty="0"/>
              <a:t>/</a:t>
            </a:r>
            <a:r>
              <a:rPr lang="zh-TW" altLang="en-US" dirty="0"/>
              <a:t>規格</a:t>
            </a:r>
            <a:r>
              <a:rPr lang="en-US" altLang="zh-TW" dirty="0"/>
              <a:t>/</a:t>
            </a:r>
            <a:r>
              <a:rPr lang="zh-TW" altLang="en-US" dirty="0"/>
              <a:t>數量</a:t>
            </a:r>
            <a:br>
              <a:rPr lang="en-US" altLang="zh-TW" dirty="0"/>
            </a:br>
            <a:r>
              <a:rPr lang="zh-TW" altLang="en-US" dirty="0"/>
              <a:t>填寫案場名</a:t>
            </a:r>
            <a:r>
              <a:rPr lang="en-US" altLang="zh-TW" dirty="0"/>
              <a:t>/</a:t>
            </a:r>
            <a:r>
              <a:rPr lang="zh-TW" altLang="en-US" dirty="0"/>
              <a:t>地點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EDAAB221-3E55-4617-B4F9-D39D0F56F98E}"/>
              </a:ext>
            </a:extLst>
          </p:cNvPr>
          <p:cNvSpPr/>
          <p:nvPr/>
        </p:nvSpPr>
        <p:spPr>
          <a:xfrm>
            <a:off x="6275134" y="3098800"/>
            <a:ext cx="1862667" cy="660400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通知設計師付費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F0340822-D0AB-4030-8255-DF4045BDA3B0}"/>
              </a:ext>
            </a:extLst>
          </p:cNvPr>
          <p:cNvSpPr/>
          <p:nvPr/>
        </p:nvSpPr>
        <p:spPr>
          <a:xfrm>
            <a:off x="9491133" y="3098800"/>
            <a:ext cx="1862667" cy="660400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設計師查看訂單</a:t>
            </a:r>
          </a:p>
        </p:txBody>
      </p:sp>
      <p:sp>
        <p:nvSpPr>
          <p:cNvPr id="13" name="箭號: 向右 12">
            <a:extLst>
              <a:ext uri="{FF2B5EF4-FFF2-40B4-BE49-F238E27FC236}">
                <a16:creationId xmlns:a16="http://schemas.microsoft.com/office/drawing/2014/main" id="{935F5E29-5AE9-4BB4-9684-A61976D5473F}"/>
              </a:ext>
            </a:extLst>
          </p:cNvPr>
          <p:cNvSpPr/>
          <p:nvPr/>
        </p:nvSpPr>
        <p:spPr>
          <a:xfrm rot="1262206">
            <a:off x="2344412" y="3412065"/>
            <a:ext cx="423333" cy="160867"/>
          </a:xfrm>
          <a:prstGeom prst="rightArrow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箭號: 向右 13">
            <a:extLst>
              <a:ext uri="{FF2B5EF4-FFF2-40B4-BE49-F238E27FC236}">
                <a16:creationId xmlns:a16="http://schemas.microsoft.com/office/drawing/2014/main" id="{B479B583-3C0E-4492-A1A6-2D9BE089EC86}"/>
              </a:ext>
            </a:extLst>
          </p:cNvPr>
          <p:cNvSpPr/>
          <p:nvPr/>
        </p:nvSpPr>
        <p:spPr>
          <a:xfrm>
            <a:off x="8602800" y="3374195"/>
            <a:ext cx="423333" cy="160867"/>
          </a:xfrm>
          <a:prstGeom prst="rightArrow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30757210-477E-4365-AA2C-38CF6B9C41A2}"/>
              </a:ext>
            </a:extLst>
          </p:cNvPr>
          <p:cNvSpPr/>
          <p:nvPr/>
        </p:nvSpPr>
        <p:spPr>
          <a:xfrm>
            <a:off x="5929336" y="4178528"/>
            <a:ext cx="2554264" cy="660400"/>
          </a:xfrm>
          <a:prstGeom prst="roundRect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通知統包師傅自行付費</a:t>
            </a:r>
          </a:p>
        </p:txBody>
      </p:sp>
      <p:sp>
        <p:nvSpPr>
          <p:cNvPr id="16" name="箭號: 向右 15">
            <a:extLst>
              <a:ext uri="{FF2B5EF4-FFF2-40B4-BE49-F238E27FC236}">
                <a16:creationId xmlns:a16="http://schemas.microsoft.com/office/drawing/2014/main" id="{767C2AE6-0DA9-4495-95BB-6192147FB77C}"/>
              </a:ext>
            </a:extLst>
          </p:cNvPr>
          <p:cNvSpPr/>
          <p:nvPr/>
        </p:nvSpPr>
        <p:spPr>
          <a:xfrm rot="19953757">
            <a:off x="5365340" y="3408760"/>
            <a:ext cx="423333" cy="160867"/>
          </a:xfrm>
          <a:prstGeom prst="rightArrow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箭號: 向右 16">
            <a:extLst>
              <a:ext uri="{FF2B5EF4-FFF2-40B4-BE49-F238E27FC236}">
                <a16:creationId xmlns:a16="http://schemas.microsoft.com/office/drawing/2014/main" id="{17CCB7D0-FA60-4B2C-975B-6C7F09E19364}"/>
              </a:ext>
            </a:extLst>
          </p:cNvPr>
          <p:cNvSpPr/>
          <p:nvPr/>
        </p:nvSpPr>
        <p:spPr>
          <a:xfrm rot="1905423">
            <a:off x="5362733" y="4267074"/>
            <a:ext cx="423333" cy="160867"/>
          </a:xfrm>
          <a:prstGeom prst="rightArrow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CF5762CA-AEC3-428E-A969-818824F42DD5}"/>
              </a:ext>
            </a:extLst>
          </p:cNvPr>
          <p:cNvSpPr/>
          <p:nvPr/>
        </p:nvSpPr>
        <p:spPr>
          <a:xfrm>
            <a:off x="977368" y="3119964"/>
            <a:ext cx="1151467" cy="660400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設計師</a:t>
            </a:r>
          </a:p>
        </p:txBody>
      </p:sp>
      <p:sp>
        <p:nvSpPr>
          <p:cNvPr id="19" name="箭號: 向右 18">
            <a:extLst>
              <a:ext uri="{FF2B5EF4-FFF2-40B4-BE49-F238E27FC236}">
                <a16:creationId xmlns:a16="http://schemas.microsoft.com/office/drawing/2014/main" id="{72B1B3BC-BB48-4ECD-B988-4312B9156D1D}"/>
              </a:ext>
            </a:extLst>
          </p:cNvPr>
          <p:cNvSpPr/>
          <p:nvPr/>
        </p:nvSpPr>
        <p:spPr>
          <a:xfrm rot="19973757">
            <a:off x="2365503" y="4266132"/>
            <a:ext cx="423333" cy="160867"/>
          </a:xfrm>
          <a:prstGeom prst="rightArrow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9C6237CD-F49E-4118-9E8D-703DEC0BCD30}"/>
              </a:ext>
            </a:extLst>
          </p:cNvPr>
          <p:cNvSpPr/>
          <p:nvPr/>
        </p:nvSpPr>
        <p:spPr>
          <a:xfrm>
            <a:off x="9491133" y="4178528"/>
            <a:ext cx="1862667" cy="660400"/>
          </a:xfrm>
          <a:prstGeom prst="roundRect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師傅查看訂單</a:t>
            </a:r>
          </a:p>
        </p:txBody>
      </p:sp>
      <p:sp>
        <p:nvSpPr>
          <p:cNvPr id="21" name="箭號: 向右 20">
            <a:extLst>
              <a:ext uri="{FF2B5EF4-FFF2-40B4-BE49-F238E27FC236}">
                <a16:creationId xmlns:a16="http://schemas.microsoft.com/office/drawing/2014/main" id="{A432FB12-ACB2-4F98-B059-BE33FC16321F}"/>
              </a:ext>
            </a:extLst>
          </p:cNvPr>
          <p:cNvSpPr/>
          <p:nvPr/>
        </p:nvSpPr>
        <p:spPr>
          <a:xfrm>
            <a:off x="8775700" y="4428294"/>
            <a:ext cx="423333" cy="160867"/>
          </a:xfrm>
          <a:prstGeom prst="rightArrow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箭號: 向右 21">
            <a:extLst>
              <a:ext uri="{FF2B5EF4-FFF2-40B4-BE49-F238E27FC236}">
                <a16:creationId xmlns:a16="http://schemas.microsoft.com/office/drawing/2014/main" id="{547A9E63-E0FB-4BD0-AC24-2F0B7864E9A6}"/>
              </a:ext>
            </a:extLst>
          </p:cNvPr>
          <p:cNvSpPr/>
          <p:nvPr/>
        </p:nvSpPr>
        <p:spPr>
          <a:xfrm rot="19973757">
            <a:off x="5365488" y="3617092"/>
            <a:ext cx="423333" cy="160867"/>
          </a:xfrm>
          <a:prstGeom prst="rightArrow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內容版面配置區 1">
            <a:extLst>
              <a:ext uri="{FF2B5EF4-FFF2-40B4-BE49-F238E27FC236}">
                <a16:creationId xmlns:a16="http://schemas.microsoft.com/office/drawing/2014/main" id="{2049F9BC-3173-4210-8443-3171360831EA}"/>
              </a:ext>
            </a:extLst>
          </p:cNvPr>
          <p:cNvSpPr txBox="1">
            <a:spLocks/>
          </p:cNvSpPr>
          <p:nvPr/>
        </p:nvSpPr>
        <p:spPr>
          <a:xfrm>
            <a:off x="1116536" y="1659466"/>
            <a:ext cx="10076397" cy="5105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關聯帳號機制：師傅缺料時可以直接下單，可以綁定給設計師付費，設計師能收到及時通知與查看下單資訊</a:t>
            </a:r>
          </a:p>
          <a:p>
            <a:pPr marL="0" indent="0">
              <a:buNone/>
            </a:pPr>
            <a:endParaRPr lang="en-US" altLang="zh-TW" sz="1400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02127965"/>
      </p:ext>
    </p:extLst>
  </p:cSld>
  <p:clrMapOvr>
    <a:masterClrMapping/>
  </p:clrMapOvr>
</p:sld>
</file>

<file path=ppt/theme/theme1.xml><?xml version="1.0" encoding="utf-8"?>
<a:theme xmlns:a="http://schemas.openxmlformats.org/drawingml/2006/main" name="TW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E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3182</TotalTime>
  <Words>1262</Words>
  <Application>Microsoft Office PowerPoint</Application>
  <PresentationFormat>寬螢幕</PresentationFormat>
  <Paragraphs>181</Paragraphs>
  <Slides>10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3</vt:i4>
      </vt:variant>
      <vt:variant>
        <vt:lpstr>投影片標題</vt:lpstr>
      </vt:variant>
      <vt:variant>
        <vt:i4>10</vt:i4>
      </vt:variant>
    </vt:vector>
  </HeadingPairs>
  <TitlesOfParts>
    <vt:vector size="20" baseType="lpstr">
      <vt:lpstr>微軟正黑體</vt:lpstr>
      <vt:lpstr>新細明體</vt:lpstr>
      <vt:lpstr>標楷體</vt:lpstr>
      <vt:lpstr>Arial</vt:lpstr>
      <vt:lpstr>Calibri</vt:lpstr>
      <vt:lpstr>Calibri Light</vt:lpstr>
      <vt:lpstr>Wingdings</vt:lpstr>
      <vt:lpstr>TW</vt:lpstr>
      <vt:lpstr>CN</vt:lpstr>
      <vt:lpstr>EN</vt:lpstr>
      <vt:lpstr>科定下單平台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關聯帳號管理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邱郁雯</dc:creator>
  <cp:lastModifiedBy>蔡馨儀</cp:lastModifiedBy>
  <cp:revision>129</cp:revision>
  <dcterms:created xsi:type="dcterms:W3CDTF">2021-09-29T00:06:43Z</dcterms:created>
  <dcterms:modified xsi:type="dcterms:W3CDTF">2025-12-18T07:42:54Z</dcterms:modified>
</cp:coreProperties>
</file>